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9" r:id="rId5"/>
    <p:sldId id="296" r:id="rId6"/>
    <p:sldId id="297" r:id="rId7"/>
    <p:sldId id="299" r:id="rId8"/>
    <p:sldId id="301" r:id="rId9"/>
    <p:sldId id="302" r:id="rId10"/>
    <p:sldId id="303" r:id="rId11"/>
    <p:sldId id="305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292E"/>
    <a:srgbClr val="404040"/>
    <a:srgbClr val="0090A2"/>
    <a:srgbClr val="05485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75" autoAdjust="0"/>
    <p:restoredTop sz="94889" autoAdjust="0"/>
  </p:normalViewPr>
  <p:slideViewPr>
    <p:cSldViewPr snapToGrid="0">
      <p:cViewPr varScale="1">
        <p:scale>
          <a:sx n="78" d="100"/>
          <a:sy n="78" d="100"/>
        </p:scale>
        <p:origin x="979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12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02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15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11/29/2025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nl/bedankt-pen-potlood-oude-papier-1606941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2540" y="0"/>
            <a:ext cx="12189460" cy="6928055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Improve </a:t>
            </a:r>
            <a:r>
              <a:rPr lang="en-US" sz="5000" dirty="0" err="1">
                <a:solidFill>
                  <a:schemeClr val="bg1"/>
                </a:solidFill>
                <a:latin typeface="Gill Sans MT" panose="020B0502020104020203" pitchFamily="34" charset="0"/>
              </a:rPr>
              <a:t>ur</a:t>
            </a: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en-US" sz="5000" dirty="0">
                <a:latin typeface="Gill Sans MT" panose="020B0502020104020203" pitchFamily="34" charset="0"/>
              </a:rPr>
              <a:t>B</a:t>
            </a: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usiness with my </a:t>
            </a:r>
            <a:r>
              <a:rPr lang="en-US" sz="5000" dirty="0">
                <a:latin typeface="Gill Sans MT" panose="020B0502020104020203" pitchFamily="34" charset="0"/>
              </a:rPr>
              <a:t>A</a:t>
            </a:r>
            <a:r>
              <a:rPr lang="en-US" sz="5000" dirty="0">
                <a:solidFill>
                  <a:schemeClr val="bg1"/>
                </a:solidFill>
                <a:latin typeface="Gill Sans MT" panose="020B0502020104020203" pitchFamily="34" charset="0"/>
              </a:rPr>
              <a:t>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2000" y="4221162"/>
            <a:ext cx="3888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 lnSpcReduction="10000"/>
          </a:bodyPr>
          <a:lstStyle/>
          <a:p>
            <a:r>
              <a:rPr lang="en-US" dirty="0"/>
              <a:t>Capstone Project</a:t>
            </a:r>
          </a:p>
          <a:p>
            <a:r>
              <a:rPr lang="en-US" dirty="0"/>
              <a:t>By : Mo Amer.</a:t>
            </a:r>
            <a:endParaRPr lang="en-US" sz="2500" b="1" i="1" spc="65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70B29D4-8B41-5EF7-58C1-FC458D4980FE}"/>
              </a:ext>
            </a:extLst>
          </p:cNvPr>
          <p:cNvSpPr/>
          <p:nvPr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C0BB29-2804-1CC4-E071-54EBB3F65D28}"/>
              </a:ext>
            </a:extLst>
          </p:cNvPr>
          <p:cNvSpPr txBox="1"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62DD94-28A4-6CF0-837C-CDA70CDA9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 step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1:</a:t>
            </a:r>
            <a:r>
              <a:rPr lang="en-US" dirty="0">
                <a:solidFill>
                  <a:schemeClr val="bg1"/>
                </a:solidFill>
              </a:rPr>
              <a:t> Python Operations: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	1.</a:t>
            </a:r>
            <a:r>
              <a:rPr lang="en-US" dirty="0"/>
              <a:t> Extraction — Python → CSV:</a:t>
            </a:r>
            <a:br>
              <a:rPr lang="en-US" dirty="0"/>
            </a:b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3CC4B-2D41-BBA6-7571-E201E7FE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082EAB-E8CB-15F3-D282-B3DE7A4EA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616" y="1825625"/>
            <a:ext cx="8178768" cy="4351338"/>
          </a:xfrm>
        </p:spPr>
      </p:pic>
    </p:spTree>
    <p:extLst>
      <p:ext uri="{BB962C8B-B14F-4D97-AF65-F5344CB8AC3E}">
        <p14:creationId xmlns:p14="http://schemas.microsoft.com/office/powerpoint/2010/main" val="907522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42ECB-9DF4-9082-0A24-9E09C2AF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C5A47FB-324B-DF8C-5665-67834D931822}"/>
              </a:ext>
            </a:extLst>
          </p:cNvPr>
          <p:cNvSpPr txBox="1"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DEA99-8666-D119-F9F5-38914390B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</a:t>
            </a:r>
            <a:r>
              <a:rPr lang="en-US" dirty="0"/>
              <a:t>Data Quality Validation:</a:t>
            </a:r>
            <a:endParaRPr lang="en-US" dirty="0">
              <a:solidFill>
                <a:srgbClr val="0090A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4F59E-A7AB-1015-010C-8034AE0C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8844" y="6174902"/>
            <a:ext cx="3571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9F5C8A-6660-1424-E782-44FA30381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63" y="1825625"/>
            <a:ext cx="8982473" cy="4351338"/>
          </a:xfrm>
        </p:spPr>
      </p:pic>
    </p:spTree>
    <p:extLst>
      <p:ext uri="{BB962C8B-B14F-4D97-AF65-F5344CB8AC3E}">
        <p14:creationId xmlns:p14="http://schemas.microsoft.com/office/powerpoint/2010/main" val="17186706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7C65-3657-CE60-6AB6-779FB686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59307B-0687-E54E-D055-45F8A26CF4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D4318-3F8B-1E60-AF7D-47FC87F682D2}"/>
              </a:ext>
            </a:extLst>
          </p:cNvPr>
          <p:cNvSpPr txBox="1"/>
          <p:nvPr/>
        </p:nvSpPr>
        <p:spPr>
          <a:xfrm>
            <a:off x="838200" y="332105"/>
            <a:ext cx="10276840" cy="1493520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B8F8E7-2BC6-3B45-A224-09A6494E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Step 2: Power bi Operations: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1.</a:t>
            </a:r>
            <a:r>
              <a:rPr lang="en-US" dirty="0"/>
              <a:t> Data Model: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88B72-5B64-5A34-29E3-685F4ECB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D8F43B-1ECC-2BB8-3F25-67D917DA820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1973263"/>
            <a:ext cx="518160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0ED38F7-5562-A36B-7FB2-A747A3E07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8645"/>
            <a:ext cx="10276840" cy="4999355"/>
          </a:xfrm>
        </p:spPr>
      </p:pic>
    </p:spTree>
    <p:extLst>
      <p:ext uri="{BB962C8B-B14F-4D97-AF65-F5344CB8AC3E}">
        <p14:creationId xmlns:p14="http://schemas.microsoft.com/office/powerpoint/2010/main" val="3883480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EFEF90-0C09-863D-39C6-99BD96703F94}"/>
              </a:ext>
            </a:extLst>
          </p:cNvPr>
          <p:cNvSpPr/>
          <p:nvPr/>
        </p:nvSpPr>
        <p:spPr>
          <a:xfrm>
            <a:off x="366040" y="-189186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2DA9A-D0A2-6212-5653-A85642A8A890}"/>
              </a:ext>
            </a:extLst>
          </p:cNvPr>
          <p:cNvSpPr txBox="1"/>
          <p:nvPr/>
        </p:nvSpPr>
        <p:spPr>
          <a:xfrm>
            <a:off x="814501" y="2222456"/>
            <a:ext cx="10205883" cy="4516996"/>
          </a:xfrm>
          <a:prstGeom prst="rect">
            <a:avLst/>
          </a:prstGeom>
          <a:solidFill>
            <a:srgbClr val="BFBFB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C5866-09B6-FFDF-9EA9-8CE2E749BB24}"/>
              </a:ext>
            </a:extLst>
          </p:cNvPr>
          <p:cNvSpPr txBox="1"/>
          <p:nvPr/>
        </p:nvSpPr>
        <p:spPr>
          <a:xfrm>
            <a:off x="838200" y="332105"/>
            <a:ext cx="9928123" cy="1493520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17017-FFB7-0F93-F34D-93D9A9698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04" y="332105"/>
            <a:ext cx="9875520" cy="1369060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</a:rPr>
              <a:t> 2.</a:t>
            </a:r>
            <a:r>
              <a:rPr lang="en-US" dirty="0"/>
              <a:t> Create Business KPIs (DAX):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30ECC-F788-1965-0C81-86C638CB2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8736" y="2545876"/>
            <a:ext cx="5511936" cy="3811588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sz="3200" b="1" dirty="0"/>
              <a:t>Total Orders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b="1" dirty="0"/>
              <a:t>Average Order Value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b="1" dirty="0"/>
              <a:t>Total Revenue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b="1" dirty="0"/>
              <a:t>Cost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b="1" dirty="0"/>
              <a:t>Profit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3200" b="1" dirty="0"/>
              <a:t>Gross Margin %</a:t>
            </a:r>
          </a:p>
          <a:p>
            <a:pPr marL="342900" indent="-342900">
              <a:buAutoNum type="arabicPeriod"/>
            </a:pPr>
            <a:r>
              <a:rPr lang="en-US" sz="3200" b="1" dirty="0"/>
              <a:t>Repeat Customers</a:t>
            </a:r>
          </a:p>
          <a:p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A5B65-E3F6-388B-3D58-1A98222E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2662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579E-95ED-157C-34AD-4167A587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4DB42B-10F8-93C3-E34D-FE63E1AD07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947B1D-7EE2-37C2-1974-08FBCDC9392C}"/>
              </a:ext>
            </a:extLst>
          </p:cNvPr>
          <p:cNvSpPr txBox="1"/>
          <p:nvPr/>
        </p:nvSpPr>
        <p:spPr>
          <a:xfrm>
            <a:off x="717756" y="2341004"/>
            <a:ext cx="10205883" cy="4516996"/>
          </a:xfrm>
          <a:prstGeom prst="rect">
            <a:avLst/>
          </a:prstGeom>
          <a:solidFill>
            <a:srgbClr val="BFBFB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578D3-3822-F18E-01A4-9B9EEA05F6DC}"/>
              </a:ext>
            </a:extLst>
          </p:cNvPr>
          <p:cNvSpPr txBox="1"/>
          <p:nvPr/>
        </p:nvSpPr>
        <p:spPr>
          <a:xfrm>
            <a:off x="838200" y="332105"/>
            <a:ext cx="9928123" cy="1493520"/>
          </a:xfrm>
          <a:prstGeom prst="rect">
            <a:avLst/>
          </a:prstGeom>
          <a:solidFill>
            <a:srgbClr val="054854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19FB0-C3F4-B934-222A-E78ECD3F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04" y="332105"/>
            <a:ext cx="9875520" cy="1369060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</a:rPr>
              <a:t>	3.visualizations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85A7B-5A80-969D-E95D-2ADAFE9DB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68736" y="2545876"/>
            <a:ext cx="5511936" cy="4169556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Showing the important (KPIs)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Matrices</a:t>
            </a:r>
          </a:p>
          <a:p>
            <a:r>
              <a:rPr lang="en-US" dirty="0"/>
              <a:t>                1. To clarifies top employees</a:t>
            </a:r>
          </a:p>
          <a:p>
            <a:r>
              <a:rPr lang="en-US" dirty="0"/>
              <a:t>	2. To clarifies top products</a:t>
            </a:r>
          </a:p>
          <a:p>
            <a:r>
              <a:rPr lang="en-US" dirty="0"/>
              <a:t>	3. To clarifies top 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Line Chart </a:t>
            </a:r>
          </a:p>
          <a:p>
            <a:r>
              <a:rPr lang="en-US" dirty="0"/>
              <a:t>	To clarifies Revenue by month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Bar chart</a:t>
            </a:r>
          </a:p>
          <a:p>
            <a:r>
              <a:rPr lang="en-US" dirty="0"/>
              <a:t>	To clarifies Revenue by category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Donut chart</a:t>
            </a:r>
          </a:p>
          <a:p>
            <a:r>
              <a:rPr lang="en-US" dirty="0"/>
              <a:t>	Revenue by store name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Slicers</a:t>
            </a:r>
          </a:p>
          <a:p>
            <a:r>
              <a:rPr lang="en-US" dirty="0"/>
              <a:t>	To explain impact of any Employee, Customer, 	Product, and Date on your Business</a:t>
            </a:r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491F4-1D2B-11DD-065D-97742555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85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1E9346-06C7-5378-6B30-C92C9BA93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4881E3E1-BDAD-B230-67C8-FB6E4C96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396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4F7D79-AAC2-AA05-D833-F4F80910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Click on this folder to open the documents of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67833-8CCA-26F2-3115-6A1052B5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8</a:t>
            </a:fld>
            <a:endParaRPr lang="en-US" noProof="0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CA52920-E369-2109-E6F5-76D813447D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759411"/>
              </p:ext>
            </p:extLst>
          </p:nvPr>
        </p:nvGraphicFramePr>
        <p:xfrm>
          <a:off x="4338484" y="2369575"/>
          <a:ext cx="3515031" cy="2868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92685" progId="Package">
                  <p:embed/>
                </p:oleObj>
              </mc:Choice>
              <mc:Fallback>
                <p:oleObj name="Packager Shell Object" showAsIcon="1" r:id="rId2" imgW="914400" imgH="79268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38484" y="2369575"/>
                        <a:ext cx="3515031" cy="2868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380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55C9-2BF3-775B-7315-94A4C638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Close-up of a pen writing on a brown board&#10;&#10;AI-generated content may be incorrect.">
            <a:extLst>
              <a:ext uri="{FF2B5EF4-FFF2-40B4-BE49-F238E27FC236}">
                <a16:creationId xmlns:a16="http://schemas.microsoft.com/office/drawing/2014/main" id="{82EF3F8F-2409-63CF-3C8A-AEC690873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5C3290C-E8DC-E9B8-283E-E0556CCAD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2EE24B5-652C-4DB5-B7C3-B5BBEC1280B1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012FD-CE3C-76A9-4D9C-01E28E4A3A11}"/>
              </a:ext>
            </a:extLst>
          </p:cNvPr>
          <p:cNvSpPr txBox="1"/>
          <p:nvPr/>
        </p:nvSpPr>
        <p:spPr>
          <a:xfrm>
            <a:off x="1936956" y="1828800"/>
            <a:ext cx="297917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 u </a:t>
            </a:r>
            <a:r>
              <a:rPr lang="en-US" sz="4000" dirty="0" err="1"/>
              <a:t>eng.</a:t>
            </a:r>
            <a:r>
              <a:rPr lang="en-US" sz="4000" dirty="0"/>
              <a:t> Abdelhamid for </a:t>
            </a:r>
            <a:r>
              <a:rPr lang="en-US" sz="4000" dirty="0" err="1"/>
              <a:t>ur</a:t>
            </a:r>
            <a:r>
              <a:rPr lang="en-US" sz="4000" dirty="0"/>
              <a:t> effort with me </a:t>
            </a:r>
          </a:p>
        </p:txBody>
      </p:sp>
    </p:spTree>
    <p:extLst>
      <p:ext uri="{BB962C8B-B14F-4D97-AF65-F5344CB8AC3E}">
        <p14:creationId xmlns:p14="http://schemas.microsoft.com/office/powerpoint/2010/main" val="3056346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marketing plan</Template>
  <TotalTime>370</TotalTime>
  <Words>184</Words>
  <Application>Microsoft Office PowerPoint</Application>
  <PresentationFormat>Widescreen</PresentationFormat>
  <Paragraphs>45</Paragraphs>
  <Slides>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</vt:lpstr>
      <vt:lpstr>Calibri</vt:lpstr>
      <vt:lpstr>Gill Sans MT</vt:lpstr>
      <vt:lpstr>Wingdings</vt:lpstr>
      <vt:lpstr>Office Theme</vt:lpstr>
      <vt:lpstr>Package</vt:lpstr>
      <vt:lpstr>Improve ur Business with my Analysis</vt:lpstr>
      <vt:lpstr> step1: Python Operations:   1. Extraction — Python → CSV: </vt:lpstr>
      <vt:lpstr>2.Data Quality Validation:</vt:lpstr>
      <vt:lpstr>Step 2: Power bi Operations:   1. Data Model:</vt:lpstr>
      <vt:lpstr> 2. Create Business KPIs (DAX):</vt:lpstr>
      <vt:lpstr> 3.visualizations </vt:lpstr>
      <vt:lpstr>PowerPoint Presentation</vt:lpstr>
      <vt:lpstr> Click on this folder to open the documents of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Amer</dc:creator>
  <cp:lastModifiedBy>Mohamed Amer</cp:lastModifiedBy>
  <cp:revision>5</cp:revision>
  <dcterms:created xsi:type="dcterms:W3CDTF">2025-09-18T16:18:37Z</dcterms:created>
  <dcterms:modified xsi:type="dcterms:W3CDTF">2025-11-29T06:57:10Z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